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  <p:sldId id="270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60"/>
  </p:normalViewPr>
  <p:slideViewPr>
    <p:cSldViewPr snapToGrid="0" snapToObjects="1">
      <p:cViewPr>
        <p:scale>
          <a:sx n="79" d="100"/>
          <a:sy n="79" d="100"/>
        </p:scale>
        <p:origin x="859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AU"/>
              <a:t>Top 10 handset usage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Huawei B528S-23A</c:v>
                </c:pt>
                <c:pt idx="1">
                  <c:v>iPhone 6S</c:v>
                </c:pt>
                <c:pt idx="2">
                  <c:v>iPhone 6</c:v>
                </c:pt>
                <c:pt idx="3">
                  <c:v>undefined</c:v>
                </c:pt>
                <c:pt idx="4">
                  <c:v>iPhone 7</c:v>
                </c:pt>
                <c:pt idx="5">
                  <c:v>iPhone SE</c:v>
                </c:pt>
                <c:pt idx="6">
                  <c:v>iPhone 8</c:v>
                </c:pt>
                <c:pt idx="7">
                  <c:v>iPhone XR</c:v>
                </c:pt>
                <c:pt idx="8">
                  <c:v>Galaxy S8</c:v>
                </c:pt>
                <c:pt idx="9">
                  <c:v>iPhone 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20324</c:v>
                </c:pt>
                <c:pt idx="1">
                  <c:v>9419</c:v>
                </c:pt>
                <c:pt idx="2">
                  <c:v>9023</c:v>
                </c:pt>
                <c:pt idx="3">
                  <c:v>8987</c:v>
                </c:pt>
                <c:pt idx="4">
                  <c:v>6326</c:v>
                </c:pt>
                <c:pt idx="5">
                  <c:v>5187</c:v>
                </c:pt>
                <c:pt idx="6">
                  <c:v>4993</c:v>
                </c:pt>
                <c:pt idx="7">
                  <c:v>4568</c:v>
                </c:pt>
                <c:pt idx="8">
                  <c:v>4520</c:v>
                </c:pt>
                <c:pt idx="9">
                  <c:v>3813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62-4849-B8D2-1F64021FF9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AU"/>
              <a:t>Top 3 manufacturers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Apple</c:v>
                </c:pt>
                <c:pt idx="1">
                  <c:v>Samsung</c:v>
                </c:pt>
                <c:pt idx="2">
                  <c:v>Huawei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60137</c:v>
                </c:pt>
                <c:pt idx="1">
                  <c:v>40839</c:v>
                </c:pt>
                <c:pt idx="2">
                  <c:v>34423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E6-4F95-A851-F2712D37E3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Application traffic by total bytes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Gaming</c:v>
                </c:pt>
                <c:pt idx="1">
                  <c:v>Other</c:v>
                </c:pt>
                <c:pt idx="2">
                  <c:v>YouTube</c:v>
                </c:pt>
                <c:pt idx="3">
                  <c:v>Netflix</c:v>
                </c:pt>
                <c:pt idx="4">
                  <c:v>Google</c:v>
                </c:pt>
                <c:pt idx="5">
                  <c:v>Email</c:v>
                </c:pt>
                <c:pt idx="6">
                  <c:v>Social Media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64550400000000</c:v>
                </c:pt>
                <c:pt idx="1">
                  <c:v>64405230000000</c:v>
                </c:pt>
                <c:pt idx="2">
                  <c:v>3396545000000</c:v>
                </c:pt>
                <c:pt idx="3">
                  <c:v>3394314000000</c:v>
                </c:pt>
                <c:pt idx="4">
                  <c:v>1171102000000</c:v>
                </c:pt>
                <c:pt idx="5">
                  <c:v>338867600000</c:v>
                </c:pt>
                <c:pt idx="6">
                  <c:v>274239400000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3B-4B80-AF4A-9D74950679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AU"/>
              <a:t>Engagement cluster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Cluster 0</c:v>
                </c:pt>
                <c:pt idx="1">
                  <c:v>Cluster 1</c:v>
                </c:pt>
                <c:pt idx="2">
                  <c:v>Cluster 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77188</c:v>
                </c:pt>
                <c:pt idx="1">
                  <c:v>1</c:v>
                </c:pt>
                <c:pt idx="2">
                  <c:v>12848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45-46A7-927B-3237328230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Average throughput by experience cluster (kbps)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Cluster 0</c:v>
                </c:pt>
                <c:pt idx="1">
                  <c:v>Cluster 1</c:v>
                </c:pt>
                <c:pt idx="2">
                  <c:v>Cluster 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779.94</c:v>
                </c:pt>
                <c:pt idx="1">
                  <c:v>1242.28</c:v>
                </c:pt>
                <c:pt idx="2">
                  <c:v>9287.06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02-49E2-9A0C-EC657ECFCA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AU"/>
              <a:t>Mean component scores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Engagement</c:v>
                </c:pt>
                <c:pt idx="1">
                  <c:v>Experience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2.3408000000000002E-2</c:v>
                </c:pt>
                <c:pt idx="1">
                  <c:v>1.9675389999999999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8F-4819-8EFA-6B2B4E3D5D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AU"/>
              <a:t>Mean scores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Engagement</c:v>
                </c:pt>
                <c:pt idx="1">
                  <c:v>Experience</c:v>
                </c:pt>
                <c:pt idx="2">
                  <c:v>Satisfaction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2.3408000000000002E-2</c:v>
                </c:pt>
                <c:pt idx="1">
                  <c:v>1.9675389999999999</c:v>
                </c:pt>
                <c:pt idx="2">
                  <c:v>0.99547300000000005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2C-4DC5-BE74-772ADFA613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ADFFE-A113-4E0A-83B7-0E67F7E53F9F}" type="datetimeFigureOut">
              <a:rPr lang="en-AU" smtClean="0"/>
              <a:t>8/10/2026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6136D-5084-4C75-85DC-77C5BE921D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128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6136D-5084-4C75-85DC-77C5BE921DDA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8591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6136D-5084-4C75-85DC-77C5BE921DDA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1865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6136D-5084-4C75-85DC-77C5BE921DDA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1349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6136D-5084-4C75-85DC-77C5BE921DDA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1360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6136D-5084-4C75-85DC-77C5BE921DDA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363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405C-7A8B-6FE0-22CF-5E47723F1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38A726-9440-CFA0-CF6A-78C6D63E6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46461-31A9-D1F6-C4C2-161C0C33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94FCE-9A77-A1A9-11B3-9DD4B4B3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DAC94-DE29-CF67-2BE9-B707CA42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5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F70F5-C1A4-A1E3-1C6B-146924C48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F7110-A07B-72CC-F498-F9DD26CEE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B3EBC-4DE2-0AA4-8CD2-FFD15018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BB70-1EB5-5374-0738-9E102277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73C07-4675-F0C5-1551-C54DC161E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8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34D2D-3B3B-B5CE-B2BE-1E14A0A2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3E2D6-60A9-E935-FD55-7D270D82B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DBF28-20FF-34BA-8C8F-C0F01E0A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33DEA-417D-9115-1D24-42C7D148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E84FA-EEC6-7E50-AD84-1678D8A8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4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4CE0-1A1B-9CA9-6149-6F3A1DAC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2143-5FA0-D59B-1B61-2278457C6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E3B50-8CD1-AA5F-A39E-80F396351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DB9D4-6A4B-3FD0-D177-DCE64230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DC0FD-BF6A-660D-50F6-41A179228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634D0-C15C-7E2E-E5E2-7366C4DF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0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16A75-66D1-7FE3-D012-7D49F3F5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1A4D8-6B09-A362-057C-7DFD87D86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F49CE-144F-BF4B-775A-D4F7BC0A6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A0D1E8-BB93-CAA3-02C7-CAC8CB729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1ADCE4-B58F-4E84-EB5D-8FDB0AC28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6AF33-E988-8515-CCED-1260F26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E28C3B-D5A7-F48B-E23F-4E4ECD0C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A7C19-56C6-A012-14E4-E88225436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6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C937-3C26-8E4D-C40A-D1495C7C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A6643-0723-C65E-92BB-88D5532BE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6B95B-1D64-F019-07D1-C96FB388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48A63-095F-1992-0699-9790EF97C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9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39E33-CA23-F0CB-FBDA-21B7B558D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61C0B4-2465-E9EA-C936-6658293FC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D5126-6140-6866-7A49-B0122A6B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16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12CF2-B1F0-7BE8-0946-A3327B27E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8D3D7-B574-130D-E77A-05F6BB945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2CB25-AD3E-CBBD-8D91-E65E3C86E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3917E-322E-6D8F-5F96-FADBAF6B2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EA5B0-3BC4-0FFA-23DF-044BFD9E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380AC-44FF-D276-A3F3-A42F8EAB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2C83-1119-6F5F-1B0B-726D44C6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22ADA-6C41-1316-A944-9281D76824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7BC4F-F4EF-4102-BEEB-4FE9BDA97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A8691-4A89-870D-DE1A-999A74F5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641A-9541-70CB-36E1-BA26741D1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2074A-4E20-C196-019E-AAC97B51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39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6BE8-5986-B67D-5195-28CDD71F5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7357A-4A0D-C925-1A77-6304E44DC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B74A8-EF56-4A3D-920B-A0A6DEB27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93CB5-03D5-938A-8771-E3F4DD395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B2644-16F7-8C52-5698-D4C17087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7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24839F-A809-196B-27EB-38306E362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55C3AD-C97A-E1C7-31AC-8EA27911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3B797-6AA4-A10A-EF22-75593E459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BDD37-00DD-C166-C5FE-61F7D88F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FD5EE-49DE-8694-EF88-85C50F22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19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2A36C-CEAB-EF0D-4D5D-08D92515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EEB5F-594F-FC4D-ACDE-D90841715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F8BA7-8FE7-E2D2-AEFE-4721F3FD1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F452E-23C5-F2F9-166A-7BA34AD7B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A5D17-02A6-7CC8-E9B8-B0639BA1D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3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8200" y="1417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 USER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332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D2E1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Engagement • Experience •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0357" y="3133368"/>
            <a:ext cx="100800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AU" sz="2400" b="1" dirty="0"/>
          </a:p>
          <a:p>
            <a:r>
              <a:rPr lang="en-AU" sz="2400" b="1" dirty="0">
                <a:solidFill>
                  <a:srgbClr val="087E8B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Presented by: </a:t>
            </a:r>
            <a:r>
              <a:rPr lang="en-AU" sz="2000" i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Ravalika</a:t>
            </a:r>
            <a:br>
              <a:rPr lang="en-AU" sz="20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AU" sz="2400" b="1" dirty="0">
                <a:solidFill>
                  <a:srgbClr val="087E8B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Organization:</a:t>
            </a:r>
            <a:r>
              <a:rPr lang="en-AU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AU" sz="2000" i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NextHikes IT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4655" y="-566190"/>
            <a:ext cx="12886639" cy="7585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14263F"/>
                </a:solidFill>
                <a:latin typeface="Aptos"/>
              </a:rPr>
              <a:t> </a:t>
            </a:r>
            <a:r>
              <a:rPr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 dirty="0">
                <a:solidFill>
                  <a:srgbClr val="5A697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Analyze telecom xDR data and convert usage/network behavior into customer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Understand the customer base, handset adoption and traffic behavior.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Measure customer engagement using sessions, duration and data usage.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Measure experience using TCP retransmission, RTT and throughput.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Combine engagement and experience into a customer satisfaction score.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Create actionable recommendations for growth and investment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54290"/>
            <a:ext cx="3246120" cy="1130941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144" y="4312632"/>
            <a:ext cx="29169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3661" y="4652627"/>
            <a:ext cx="2916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B5D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90,037 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154291"/>
            <a:ext cx="3246120" cy="1194949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1261" y="4312632"/>
            <a:ext cx="31554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261" y="4712105"/>
            <a:ext cx="2916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482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150,001 xDR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154290"/>
            <a:ext cx="3246120" cy="119495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69745" y="4312632"/>
            <a:ext cx="27499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782" y="4728952"/>
            <a:ext cx="29439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E891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 + K-Means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245608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&amp; Analytical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" y="1417320"/>
            <a:ext cx="3218688" cy="1002607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89890" y="1447038"/>
            <a:ext cx="28787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56232"/>
            <a:ext cx="3054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B5D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150,001 rows • 55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563624"/>
            <a:ext cx="3054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56232"/>
            <a:ext cx="3054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482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90,037 unique MSISDNs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1792" y="1563624"/>
            <a:ext cx="3054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856232"/>
            <a:ext cx="3054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E891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Server + notebook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1042416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Load and inspect the xDR dataset.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Standardize column names and convert numeric fields.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Treat missing values and perform the existing outlier-treatment phase.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Create application totals and customer-level aggregates.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Run EDA, clustering, satisfaction scoring and SQL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&amp;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63624"/>
            <a:ext cx="3054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56232"/>
            <a:ext cx="3054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35845B"/>
                </a:solidFill>
                <a:latin typeface="Aptos"/>
              </a:rPr>
              <a:t>0 after treatment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563624"/>
            <a:ext cx="3054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56232"/>
            <a:ext cx="3054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B5D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90,037 unique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563624"/>
            <a:ext cx="3054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856232"/>
            <a:ext cx="3054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482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usage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104241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Column names were standardized for consistent analysis.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Numeric fields were converted to numeric data types.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Missing values were treated before aggregation.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Outlier treatment was completed in the cleaning phase; it was not repeated during clustering.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Application totals were created for Social Media, Google, Email, YouTube, Netflix, Gaming and Other.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502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sz="900" b="0" dirty="0">
              <a:solidFill>
                <a:srgbClr val="8291A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Overview — Handset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09560" y="1508760"/>
            <a:ext cx="34747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74152" y="1655063"/>
            <a:ext cx="3145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#1 HANDSET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1947672"/>
            <a:ext cx="3145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B5D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B528S-23A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880360"/>
            <a:ext cx="34747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74152" y="3026664"/>
            <a:ext cx="3145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 HANDSET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3319272"/>
            <a:ext cx="3145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482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Apple iPhone 6S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251960"/>
            <a:ext cx="34747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74152" y="4398264"/>
            <a:ext cx="3145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#3 HANDSET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4690872"/>
            <a:ext cx="3145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E891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Apple iPhone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5669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646E78"/>
                </a:solidFill>
                <a:latin typeface="Aptos"/>
              </a:rPr>
              <a:t>Note: “undefined” is retained because it appears in the source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Overview — Manufacturers &amp;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417320"/>
          <a:ext cx="5212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72200" y="1417320"/>
          <a:ext cx="5349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2B34"/>
                </a:solidFill>
                <a:latin typeface="Aptos"/>
              </a:rPr>
              <a:t>Gaming and Other account for the largest traffic volumes in the notebook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436" y="850392"/>
            <a:ext cx="106912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5A697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Univariate, </a:t>
            </a:r>
            <a:r>
              <a:rPr lang="en-US" sz="2000" b="0" i="1" dirty="0">
                <a:solidFill>
                  <a:srgbClr val="5A697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</a:t>
            </a:r>
            <a:r>
              <a:rPr sz="2000" b="0" i="1" dirty="0">
                <a:solidFill>
                  <a:srgbClr val="5A697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ivariate, </a:t>
            </a:r>
            <a:r>
              <a:rPr lang="en-US" sz="2000" i="1" dirty="0">
                <a:solidFill>
                  <a:srgbClr val="5A697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</a:t>
            </a:r>
            <a:r>
              <a:rPr sz="2000" b="0" i="1" dirty="0">
                <a:solidFill>
                  <a:srgbClr val="5A697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rivariate, correlation, decile and PCA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76072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Session duration and total traffic were examined at distribution level.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Application usage showed Gaming and Other as the highest-volume categories.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Trivariate analysis compared YouTube, Netflix and total traffic.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DL and UL throughput were strongly related (correlation ≈ 0.749).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PCA produced seven principal components with similar explained-variance ratios.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1600200"/>
            <a:ext cx="38404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59752" y="1746504"/>
            <a:ext cx="3511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DL–UL THROUGHPUT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2039112"/>
            <a:ext cx="3511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482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0.7489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3154680"/>
            <a:ext cx="38404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59752" y="3300984"/>
            <a:ext cx="3511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GAMING ↔ TOTAL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593592"/>
            <a:ext cx="3511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B5D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0.9983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4709160"/>
            <a:ext cx="384048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9752" y="4855464"/>
            <a:ext cx="3511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5148072"/>
            <a:ext cx="3511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E891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components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4C8EA8-AD98-71EA-D8DD-D8878F719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69" y="157581"/>
            <a:ext cx="7022606" cy="6309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B34048-77EC-0F03-CA75-F0FAC6CEE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645" y="1015211"/>
            <a:ext cx="3628461" cy="371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600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1695" cy="72568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Cluster 0 = largest mainstream segment; Cluster 2 = higher-use segment; Cluster 1 = one extreme high-usage customer.</a:t>
            </a:r>
            <a:endParaRPr lang="en-AU" dirty="0"/>
          </a:p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50392" y="49277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</a:t>
            </a:r>
            <a:r>
              <a:rPr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Customer Segmentation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578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17904"/>
            <a:ext cx="49286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10512"/>
            <a:ext cx="4928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B5D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Sessions • Duration • DL • UL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2578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517904"/>
            <a:ext cx="49286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810512"/>
            <a:ext cx="4928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482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StandardScaler + K-Means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602601"/>
              </p:ext>
            </p:extLst>
          </p:nvPr>
        </p:nvGraphicFramePr>
        <p:xfrm>
          <a:off x="777239" y="2743200"/>
          <a:ext cx="7082709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715983" y="4017523"/>
            <a:ext cx="248541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232B34"/>
                </a:solidFill>
                <a:latin typeface="Aptos"/>
              </a:rPr>
              <a:t>Cluster 0 = largest mainstream segment; Cluster 2 = higher-use segment; Cluster 1 = one extreme high-usage customer.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— Elbow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58200" y="1556426"/>
            <a:ext cx="2834640" cy="1077218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22792" y="1975104"/>
            <a:ext cx="25054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2267712"/>
            <a:ext cx="2505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482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608" y="3052322"/>
            <a:ext cx="28346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32B34"/>
                </a:solidFill>
                <a:latin typeface="Aptos"/>
              </a:rPr>
              <a:t>The largest improvement occurs before K=3, supporting a 3-cluster solution for engagement.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776744-C315-A942-74B7-D5333C9CF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037" y="4384221"/>
            <a:ext cx="3606129" cy="23667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8DA316-DDFE-7204-038F-D888007BB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16" y="1312074"/>
            <a:ext cx="6610256" cy="42885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Experience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63624"/>
            <a:ext cx="30998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BE41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 retransmission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563624"/>
            <a:ext cx="30998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56232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E891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RTT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429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563624"/>
            <a:ext cx="30998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856232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482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throughput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777240" y="2971800"/>
          <a:ext cx="64922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543800" y="3154680"/>
            <a:ext cx="365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Experience clustering produced 3 customer groups: 37,186 / 22,555 / 30,296 users.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709160"/>
            <a:ext cx="3657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Cluster 2 has substantially higher average throughput; Cluster 1 has the highest average RTT among the three.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by Handset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65836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Top average-throughput handset examples include Xiaomi Communica. M1803E1A, HTC 2Q6E100 and Huawei Y5 2017.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The analysis also identified handset types with high average TCP retransmission.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These results can help prioritize device/network compatibility checks.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Handset labels contain source-data naming variations, so interpretation should focus on repeated patterns rather than exact model naming.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554480"/>
            <a:ext cx="3749039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45552" y="1700784"/>
            <a:ext cx="34198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THROUGHPUT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1993391"/>
            <a:ext cx="34198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482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Xiaomi M1803E1A ≈ 25,471 kbps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3154680"/>
            <a:ext cx="3749039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45552" y="3300984"/>
            <a:ext cx="34198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TCP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3593592"/>
            <a:ext cx="34198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BE41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Galaxy Core 2 ≈ 2.33×10⁷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754880"/>
            <a:ext cx="3749039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4901184"/>
            <a:ext cx="34198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5193792"/>
            <a:ext cx="3419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B5D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Prioritize device/network quality checks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Satisfaction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17904"/>
            <a:ext cx="30998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SATISFACTION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10512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B5D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90,037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517904"/>
            <a:ext cx="30998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10512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482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0.9955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429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517904"/>
            <a:ext cx="30998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810512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358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5836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32B34"/>
                </a:solidFill>
                <a:latin typeface="Aptos"/>
              </a:rPr>
              <a:t>Satisfaction score = average of the engagement score and experience score.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914400" y="3657600"/>
          <a:ext cx="47548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00800" y="3657600"/>
          <a:ext cx="47548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Satisfaction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603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63624"/>
            <a:ext cx="22311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2231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358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5603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1563624"/>
            <a:ext cx="22311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856232"/>
            <a:ext cx="2231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358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25603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563624"/>
            <a:ext cx="22311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856232"/>
            <a:ext cx="2231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482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417320"/>
            <a:ext cx="24688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17152" y="1563624"/>
            <a:ext cx="21396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COEFFICIENTS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1856232"/>
            <a:ext cx="2139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B5D96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0.5 + 0.5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1033272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Linear regression used Engagement_Score and Experience_Score as inputs.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The model achieved R² = 1.0 because Satisfaction_Score was mathematically defined as their average.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Therefore, this model validates the scoring formula rather than proving independent predictive power.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SELECT TOP (1000) [MSISDN_Number]</a:t>
            </a:r>
          </a:p>
          <a:p>
            <a:r>
              <a:rPr lang="en-US"/>
              <a:t>      ,[Engagement_Score]</a:t>
            </a:r>
          </a:p>
          <a:p>
            <a:r>
              <a:rPr lang="en-US"/>
              <a:t>      ,[Experience_Score]</a:t>
            </a:r>
          </a:p>
          <a:p>
            <a:r>
              <a:rPr lang="en-US"/>
              <a:t>      ,[Satisfaction_Score]</a:t>
            </a:r>
          </a:p>
          <a:p>
            <a:r>
              <a:rPr lang="en-US"/>
              <a:t>  FROM [TelecomDB].[dbo].[CustomerScores]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1426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Server Data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12" cy="0"/>
          </a:xfrm>
          <a:prstGeom prst="rect">
            <a:avLst/>
          </a:prstGeom>
          <a:solidFill>
            <a:srgbClr val="24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17904"/>
            <a:ext cx="30998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10512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B5D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TelecomAnalysis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517904"/>
            <a:ext cx="30998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10512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482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TelecomData • 1,000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4290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517904"/>
            <a:ext cx="30998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5F6C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810512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E891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CustomerScores • 90,037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10515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Python connects to local SQL Server instance .\SQLEXPRESS using SQLAlchemy + pyodbc.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TelecomData contains the uploaded 1,000-row sample for database delivery.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CustomerScores contains MSISDN, Engagement_Score, Experience_Score and Satisfaction_Score.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SSMS can be used to run SELECT queries and capture the final verification screenshot.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D1C789-503D-AFE4-B357-69D304677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828" y="4759322"/>
            <a:ext cx="6517533" cy="18509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4C7EE9-E9F1-0E36-0AD3-6B8395718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817"/>
            <a:ext cx="12110936" cy="648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43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 &amp;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90,037 unique customers were analyzed from 150,001 xDR records.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Gaming and Other were the largest application traffic categories.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Engagement analysis supports 3 customer clusters; one customer forms an extreme high-usage cluster.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Experience analysis identifies clear differences in RTT, retransmission and throughput.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Growth should focus on high-value usage segments while improving network experience for weaker clusters.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rPr sz="2000" i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Purchase recommendation: proceed only with due diligence, especially financial, churn and revenue data that are outside this xDR analysis.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3C147F-08F9-AF4D-0550-9B1383E13325}"/>
              </a:ext>
            </a:extLst>
          </p:cNvPr>
          <p:cNvSpPr txBox="1"/>
          <p:nvPr/>
        </p:nvSpPr>
        <p:spPr>
          <a:xfrm>
            <a:off x="3047189" y="2818609"/>
            <a:ext cx="6094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8000" b="1" i="1" dirty="0">
                <a:solidFill>
                  <a:schemeClr val="bg1"/>
                </a:solidFill>
                <a:effectLst/>
                <a:latin typeface="Algerian" panose="04020705040A020607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THANK YOU</a:t>
            </a:r>
            <a:endParaRPr lang="en-AU" sz="8000" b="1" i="1" dirty="0">
              <a:solidFill>
                <a:schemeClr val="bg1"/>
              </a:solidFill>
              <a:effectLst/>
              <a:latin typeface="Algerian" panose="04020705040A02060702" pitchFamily="8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550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2233</TotalTime>
  <Words>952</Words>
  <Application>Microsoft Office PowerPoint</Application>
  <PresentationFormat>Widescreen</PresentationFormat>
  <Paragraphs>151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Algerian</vt:lpstr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 Ravi</dc:creator>
  <cp:keywords/>
  <dc:description>generated using python-pptx</dc:description>
  <cp:lastModifiedBy>K Ravi</cp:lastModifiedBy>
  <cp:revision>36</cp:revision>
  <dcterms:created xsi:type="dcterms:W3CDTF">2013-01-27T09:14:16Z</dcterms:created>
  <dcterms:modified xsi:type="dcterms:W3CDTF">2026-10-09T07:23:21Z</dcterms:modified>
  <cp:category/>
</cp:coreProperties>
</file>